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-170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8/21/2025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什麼是 Retrieval‑Augmented Generation (RAG)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RAG 是結合檢索和生成的技術，讓 AI 在回答時能參考實際文件。</a:t>
            </a:r>
          </a:p>
          <a:p>
            <a:pPr>
              <a:defRPr sz="2400"/>
            </a:pPr>
            <a:endParaRPr/>
          </a:p>
          <a:p>
            <a:pPr>
              <a:defRPr sz="2400"/>
            </a:pPr>
            <a:r>
              <a:t>簡單來說：</a:t>
            </a:r>
          </a:p>
          <a:p>
            <a:pPr>
              <a:defRPr sz="2400"/>
            </a:pPr>
            <a:r>
              <a:t>1. 首先從資料庫找出相關片段。</a:t>
            </a:r>
          </a:p>
          <a:p>
            <a:pPr>
              <a:defRPr sz="2400"/>
            </a:pPr>
            <a:r>
              <a:t>2. 接著把片段傳給語言模型。</a:t>
            </a:r>
          </a:p>
          <a:p>
            <a:pPr>
              <a:defRPr sz="2400"/>
            </a:pPr>
            <a:r>
              <a:t>3. 模型基於片段生成答案。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模組總覽：四大功能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rPr dirty="0"/>
              <a:t>1️⃣ </a:t>
            </a:r>
            <a:r>
              <a:rPr dirty="0" err="1"/>
              <a:t>文本轉向量與索引</a:t>
            </a:r>
            <a:endParaRPr dirty="0"/>
          </a:p>
          <a:p>
            <a:pPr>
              <a:defRPr sz="2400"/>
            </a:pPr>
            <a:r>
              <a:rPr dirty="0"/>
              <a:t>2️⃣ </a:t>
            </a:r>
            <a:r>
              <a:rPr dirty="0" err="1"/>
              <a:t>重新排序</a:t>
            </a:r>
            <a:r>
              <a:rPr dirty="0"/>
              <a:t> (</a:t>
            </a:r>
            <a:r>
              <a:rPr dirty="0" err="1"/>
              <a:t>SiliconFlow</a:t>
            </a:r>
            <a:r>
              <a:rPr dirty="0"/>
              <a:t>)</a:t>
            </a:r>
          </a:p>
          <a:p>
            <a:pPr>
              <a:defRPr sz="2400"/>
            </a:pPr>
            <a:r>
              <a:rPr dirty="0"/>
              <a:t>3️⃣ </a:t>
            </a:r>
            <a:r>
              <a:rPr dirty="0" err="1"/>
              <a:t>全文件合併生成答案</a:t>
            </a:r>
            <a:endParaRPr dirty="0"/>
          </a:p>
          <a:p>
            <a:pPr>
              <a:defRPr sz="2400"/>
            </a:pPr>
            <a:r>
              <a:rPr dirty="0"/>
              <a:t>4️⃣ </a:t>
            </a:r>
            <a:r>
              <a:rPr dirty="0" err="1"/>
              <a:t>回覆抽取與思考拆解</a:t>
            </a:r>
            <a:endParaRPr dirty="0"/>
          </a:p>
          <a:p>
            <a:pPr>
              <a:defRPr sz="2400"/>
            </a:pPr>
            <a:endParaRPr dirty="0"/>
          </a:p>
          <a:p>
            <a:pPr>
              <a:defRPr sz="2400"/>
            </a:pPr>
            <a:r>
              <a:rPr dirty="0" err="1"/>
              <a:t>這四個模組協同完成從檔案上傳到回覆的全流程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文件上傳到向量庫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`create_vector_DB` 接受檔案或 Document 列表</a:t>
            </a:r>
          </a:p>
          <a:p>
            <a:pPr>
              <a:defRPr sz="2400"/>
            </a:pPr>
            <a:r>
              <a:t>• 使用 `OllamaEmbeddings` 產生向量</a:t>
            </a:r>
          </a:p>
          <a:p>
            <a:pPr>
              <a:defRPr sz="2400"/>
            </a:pPr>
            <a:r>
              <a:t>• `build_FAISS` 把所有片段放入 FAISS 索引</a:t>
            </a:r>
          </a:p>
          <a:p>
            <a:pPr>
              <a:defRPr sz="2400"/>
            </a:pPr>
            <a:r>
              <a:t>• `refresh_vectorstore_check` 判斷是否需要重建</a:t>
            </a:r>
          </a:p>
          <a:p>
            <a:pPr>
              <a:defRPr sz="2400"/>
            </a:pPr>
            <a:endParaRPr/>
          </a:p>
          <a:p>
            <a:pPr>
              <a:defRPr sz="2400"/>
            </a:pPr>
            <a:r>
              <a:t>結束後得到可查詢的 vector store。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向量檢索與片段擷取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1️⃣ `search_top_k` 從 vectorstore 取得相似片段</a:t>
            </a:r>
          </a:p>
          <a:p>
            <a:pPr>
              <a:defRPr sz="2400"/>
            </a:pPr>
            <a:r>
              <a:t>2️⃣ `rerank_chunks_top_k` 用 SiliconFlow 重新排序</a:t>
            </a:r>
          </a:p>
          <a:p>
            <a:pPr>
              <a:defRPr sz="2400"/>
            </a:pPr>
            <a:r>
              <a:t>3️⃣ 回傳最相關的 Document 與分數</a:t>
            </a:r>
          </a:p>
          <a:p>
            <a:pPr>
              <a:defRPr sz="2400"/>
            </a:pPr>
            <a:endParaRPr/>
          </a:p>
          <a:p>
            <a:pPr>
              <a:defRPr sz="2400"/>
            </a:pPr>
            <a:r>
              <a:t>使用 cosine 相似度 + reranker 兩階段提升精準度。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生成完整文件回答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1️⃣ `generate_full_files_answer` 取 top chunk</a:t>
            </a:r>
          </a:p>
          <a:p>
            <a:pPr>
              <a:defRPr sz="2400"/>
            </a:pPr>
            <a:r>
              <a:t>2️⃣ 把同一 source 的所有頁面合併為完整文本</a:t>
            </a:r>
          </a:p>
          <a:p>
            <a:pPr>
              <a:defRPr sz="2400"/>
            </a:pPr>
            <a:r>
              <a:t>3️⃣ 用 `llm_generator` 呼叫 Ollama LLM，傳入問題與完整文件</a:t>
            </a:r>
          </a:p>
          <a:p>
            <a:pPr>
              <a:defRPr sz="2400"/>
            </a:pPr>
            <a:r>
              <a:t>4️⃣ 取得答案與合併文件清單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回覆與後處理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`retrieve_augment_generation_helper` 建立提示，告訴模型用繁體回答</a:t>
            </a:r>
          </a:p>
          <a:p>
            <a:pPr>
              <a:defRPr sz="2400"/>
            </a:pPr>
            <a:r>
              <a:t>• 包含檢索片段作為 context</a:t>
            </a:r>
          </a:p>
          <a:p>
            <a:pPr>
              <a:defRPr sz="2400"/>
            </a:pPr>
            <a:r>
              <a:t>• `extract_answer_and_thought` 把 … 與最終答案分離</a:t>
            </a:r>
          </a:p>
          <a:p>
            <a:pPr>
              <a:defRPr sz="2400"/>
            </a:pPr>
            <a:endParaRPr/>
          </a:p>
          <a:p>
            <a:pPr>
              <a:defRPr sz="2400"/>
            </a:pPr>
            <a:r>
              <a:t>這一步可讓回覆更易讀，也方便後續分析模型內部推理。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完整流程簡易圖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1. 上傳文件 → 2. 建立向量索引 → 3. 用 query 檢索片段 → 4. 重新排序 → 5. 取完整文件 → 6. 呼叫 LLM → 7. 產生答案</a:t>
            </a:r>
          </a:p>
          <a:p>
            <a:pPr>
              <a:defRPr sz="2400"/>
            </a:pPr>
            <a:endParaRPr/>
          </a:p>
          <a:p>
            <a:pPr>
              <a:defRPr sz="2400"/>
            </a:pPr>
            <a:r>
              <a:t>以上即為 RAG 系統從輸入到輸出的完整流程。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📁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文件上傳與向量建立
</a:t>
            </a:r>
            <a:r>
              <a:rPr sz="1000">
                <a:solidFill>
                  <a:srgbClr val="000000"/>
                </a:solidFill>
              </a:rPr>
              <a:t>上傳檔案並創建向量庫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🔎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向量檢索與重新排序
</a:t>
            </a:r>
            <a:r>
              <a:rPr sz="1000">
                <a:solidFill>
                  <a:srgbClr val="000000"/>
                </a:solidFill>
              </a:rPr>
              <a:t>從向量庫檢索並重新排序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📄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全文合併與生成答案
</a:t>
            </a:r>
            <a:r>
              <a:rPr sz="1000">
                <a:solidFill>
                  <a:srgbClr val="000000"/>
                </a:solidFill>
              </a:rPr>
              <a:t>合併文件並生成完整答案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🤖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LLM 回覆與後處理
</a:t>
            </a:r>
            <a:r>
              <a:rPr sz="1000">
                <a:solidFill>
                  <a:srgbClr val="000000"/>
                </a:solidFill>
              </a:rPr>
              <a:t>LLM 產生答案並進行後處理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2588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📁
</a:t>
            </a:r>
            <a:r>
              <a:rPr sz="1300" b="1">
                <a:solidFill>
                  <a:srgbClr val="000000"/>
                </a:solidFill>
              </a:rPr>
              <a:t>文件上傳與向量建立
</a:t>
            </a:r>
          </a:p>
        </p:txBody>
      </p:sp>
      <p:sp>
        <p:nvSpPr>
          <p:cNvPr id="4" name="Oval 3"/>
          <p:cNvSpPr/>
          <p:nvPr/>
        </p:nvSpPr>
        <p:spPr>
          <a:xfrm>
            <a:off x="539496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🔎
</a:t>
            </a:r>
            <a:r>
              <a:rPr sz="1300" b="1">
                <a:solidFill>
                  <a:srgbClr val="000000"/>
                </a:solidFill>
              </a:rPr>
              <a:t>向量檢索與重新排序
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48006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📄
</a:t>
            </a:r>
            <a:r>
              <a:rPr sz="1300" b="1">
                <a:solidFill>
                  <a:srgbClr val="000000"/>
                </a:solidFill>
              </a:rPr>
              <a:t>全文合併與生成答案
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🤖
</a:t>
            </a:r>
            <a:r>
              <a:rPr sz="1300" b="1">
                <a:solidFill>
                  <a:srgbClr val="000000"/>
                </a:solidFill>
              </a:rPr>
              <a:t>LLM 回覆與後處理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207</Words>
  <Application>Microsoft Office PowerPoint</Application>
  <PresentationFormat>如螢幕大小 (4:3)</PresentationFormat>
  <Paragraphs>56</Paragraphs>
  <Slides>9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0" baseType="lpstr">
      <vt:lpstr>Office Theme</vt:lpstr>
      <vt:lpstr>什麼是 Retrieval‑Augmented Generation (RAG)</vt:lpstr>
      <vt:lpstr>模組總覽：四大功能</vt:lpstr>
      <vt:lpstr>文件上傳到向量庫</vt:lpstr>
      <vt:lpstr>向量檢索與片段擷取</vt:lpstr>
      <vt:lpstr>生成完整文件回答</vt:lpstr>
      <vt:lpstr>LLM 回覆與後處理</vt:lpstr>
      <vt:lpstr>完整流程簡易圖</vt:lpstr>
      <vt:lpstr>清單圖</vt:lpstr>
      <vt:lpstr>循環圖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什麼是 Retrieval‑Augmented Generation (RAG)</dc:title>
  <dc:subject/>
  <dc:creator/>
  <cp:keywords/>
  <dc:description>generated using python-pptx</dc:description>
  <cp:lastModifiedBy>PHCheng</cp:lastModifiedBy>
  <cp:revision>1</cp:revision>
  <dcterms:created xsi:type="dcterms:W3CDTF">2013-01-27T09:14:16Z</dcterms:created>
  <dcterms:modified xsi:type="dcterms:W3CDTF">2025-08-21T05:28:34Z</dcterms:modified>
  <cp:category/>
</cp:coreProperties>
</file>