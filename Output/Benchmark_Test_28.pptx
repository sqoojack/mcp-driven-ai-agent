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AI與軟體工程的轉型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AI及大型語言模型正深刻改變現代軟體工程模式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本報告提出MCP（Model Context Protocol）協議</a:t>
            </a:r>
          </a:p>
          <a:p>
            <a:pPr>
              <a:defRPr sz="1800"/>
            </a:pPr>
          </a:p>
          <a:p>
            <a:pPr>
              <a:defRPr sz="1800"/>
            </a:pPr>
            <a:r>
              <a:t>此協議旨在將傳統封閉式本地端腳本轉化為標準化的AI Agent工具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MCP協議的核心價值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標準化AI Agent工具介面</a:t>
            </a:r>
          </a:p>
          <a:p>
            <a:pPr>
              <a:defRPr sz="1800"/>
            </a:pPr>
            <a:r>
              <a:t>2. 打破封閉式本地端腳本限制</a:t>
            </a:r>
          </a:p>
          <a:p>
            <a:pPr>
              <a:defRPr sz="1800"/>
            </a:pPr>
            <a:r>
              <a:t>3. 提供可擴展、可組合的AI能力框架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報告核心主題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1. AI Agent自動化工作流實現</a:t>
            </a:r>
          </a:p>
          <a:p>
            <a:pPr>
              <a:defRPr sz="1800"/>
            </a:pPr>
            <a:r>
              <a:t>2. AWS S3雲端服務整合應用</a:t>
            </a:r>
          </a:p>
          <a:p>
            <a:pPr>
              <a:defRPr sz="1800"/>
            </a:pPr>
            <a:r>
              <a:t>3. JSON結構化輸出與動態圖表生成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清單圖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MCP協議介紹
</a:t>
            </a:r>
            <a:r>
              <a:rPr sz="1000">
                <a:solidFill>
                  <a:srgbClr val="000000"/>
                </a:solidFill>
              </a:rPr>
              <a:t>AI Agent與傳統軟體連接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6888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MCP核心價值
</a:t>
            </a:r>
            <a:r>
              <a:rPr sz="1000">
                <a:solidFill>
                  <a:srgbClr val="000000"/>
                </a:solidFill>
              </a:rPr>
              <a:t>標準化與可擴展性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66344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AI Agent工作流實現
</a:t>
            </a:r>
            <a:r>
              <a:rPr sz="1000">
                <a:solidFill>
                  <a:srgbClr val="000000"/>
                </a:solidFill>
              </a:rPr>
              <a:t>觸發與執行機制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58000" y="1828800"/>
            <a:ext cx="2011680" cy="914400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0" y="2743200"/>
            <a:ext cx="2011680" cy="1828800"/>
          </a:xfrm>
          <a:prstGeom prst="roundRect">
            <a:avLst/>
          </a:prstGeom>
          <a:solidFill>
            <a:srgbClr val="DA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400"/>
              </a:spcAft>
            </a:pPr>
            <a:r>
              <a:rPr sz="1300" b="1">
                <a:solidFill>
                  <a:srgbClr val="000000"/>
                </a:solidFill>
              </a:rPr>
              <a:t>AWS S3整合應用
</a:t>
            </a:r>
            <a:r>
              <a:rPr sz="1000">
                <a:solidFill>
                  <a:srgbClr val="000000"/>
                </a:solidFill>
              </a:rPr>
              <a:t>資料存儲與JSON輸出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循環圖</a:t>
            </a:r>
          </a:p>
        </p:txBody>
      </p:sp>
      <p:sp>
        <p:nvSpPr>
          <p:cNvPr id="3" name="Oval 2"/>
          <p:cNvSpPr/>
          <p:nvPr/>
        </p:nvSpPr>
        <p:spPr>
          <a:xfrm>
            <a:off x="3657600" y="132588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⚙️
</a:t>
            </a:r>
            <a:r>
              <a:rPr sz="1300" b="1">
                <a:solidFill>
                  <a:srgbClr val="000000"/>
                </a:solidFill>
              </a:rPr>
              <a:t>MCP協議介紹
</a:t>
            </a:r>
          </a:p>
        </p:txBody>
      </p:sp>
      <p:sp>
        <p:nvSpPr>
          <p:cNvPr id="4" name="Oval 3"/>
          <p:cNvSpPr/>
          <p:nvPr/>
        </p:nvSpPr>
        <p:spPr>
          <a:xfrm>
            <a:off x="539496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🔧
</a:t>
            </a:r>
            <a:r>
              <a:rPr sz="1300" b="1">
                <a:solidFill>
                  <a:srgbClr val="000000"/>
                </a:solidFill>
              </a:rPr>
              <a:t>MCP核心價值
</a:t>
            </a:r>
          </a:p>
        </p:txBody>
      </p:sp>
      <p:sp>
        <p:nvSpPr>
          <p:cNvPr id="5" name="Oval 4"/>
          <p:cNvSpPr/>
          <p:nvPr/>
        </p:nvSpPr>
        <p:spPr>
          <a:xfrm>
            <a:off x="3657600" y="480060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🤖
</a:t>
            </a:r>
            <a:r>
              <a:rPr sz="1300" b="1">
                <a:solidFill>
                  <a:srgbClr val="000000"/>
                </a:solidFill>
              </a:rPr>
              <a:t>AI Agent工作流實現
</a:t>
            </a:r>
          </a:p>
        </p:txBody>
      </p:sp>
      <p:sp>
        <p:nvSpPr>
          <p:cNvPr id="6" name="Oval 5"/>
          <p:cNvSpPr/>
          <p:nvPr/>
        </p:nvSpPr>
        <p:spPr>
          <a:xfrm>
            <a:off x="1920240" y="3063240"/>
            <a:ext cx="1828800" cy="1645920"/>
          </a:xfrm>
          <a:prstGeom prst="ellipse">
            <a:avLst/>
          </a:prstGeom>
          <a:solidFill>
            <a:srgbClr val="DDEBF7"/>
          </a:solidFill>
          <a:ln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3000">
                <a:solidFill>
                  <a:srgbClr val="0066CC"/>
                </a:solidFill>
                <a:latin typeface="Segoe UI Emoji"/>
              </a:rPr>
              <a:t>☁️
</a:t>
            </a:r>
            <a:r>
              <a:rPr sz="1300" b="1">
                <a:solidFill>
                  <a:srgbClr val="000000"/>
                </a:solidFill>
              </a:rPr>
              <a:t>AWS S3整合應用
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