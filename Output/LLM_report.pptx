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Professional Profile &amp;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Name: Po Han Cheng</a:t>
            </a:r>
          </a:p>
          <a:p>
            <a:pPr>
              <a:defRPr sz="1800"/>
            </a:pPr>
            <a:r>
              <a:t>Status: Master’s Student, NYCU</a:t>
            </a:r>
          </a:p>
          <a:p>
            <a:pPr>
              <a:defRPr sz="1800"/>
            </a:pPr>
            <a:r>
              <a:t>College: School of Computer Science</a:t>
            </a:r>
          </a:p>
          <a:p>
            <a:pPr>
              <a:defRPr sz="1800"/>
            </a:pPr>
            <a:r>
              <a:t>GitHub: https://github.com/po-han-cheng</a:t>
            </a:r>
          </a:p>
          <a:p>
            <a:pPr>
              <a:defRPr sz="1800"/>
            </a:pPr>
            <a:r>
              <a:t>Email: po.han.cheng@example.com</a:t>
            </a:r>
          </a:p>
          <a:p>
            <a:pPr>
              <a:defRPr sz="1800"/>
            </a:pPr>
            <a:r>
              <a:t>Phone: +1-555-123-4567</a:t>
            </a:r>
          </a:p>
          <a:p>
            <a:pPr>
              <a:defRPr sz="1800"/>
            </a:pPr>
            <a:r>
              <a:t>LinkedIn: https://linkedin.com/in/po-han-cheng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Flagship GPU Subsystem:</a:t>
            </a:r>
          </a:p>
          <a:p>
            <a:pPr>
              <a:defRPr sz="1800"/>
            </a:pPr>
            <a:r>
              <a:t>- C++ GPU subsystem with shared‑memory IPC, lock‑free ring buffers, DMA texture transfer</a:t>
            </a:r>
          </a:p>
          <a:p>
            <a:pPr>
              <a:defRPr sz="1800"/>
            </a:pPr>
            <a:r>
              <a:t>- ARM64 assembly optimizations, watchdog for thermal &amp; deadlock recovery</a:t>
            </a:r>
          </a:p>
          <a:p>
            <a:pPr>
              <a:defRPr sz="1800"/>
            </a:pPr>
            <a:r>
              <a:t>- PID Control Algorithm for performance tuning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Technologies:</a:t>
            </a:r>
          </a:p>
          <a:p>
            <a:pPr>
              <a:defRPr sz="1800"/>
            </a:pPr>
            <a:r>
              <a:t>- C++, ARM64 Assembly, POSIX IPC, Linux/Unix, PID Control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Demo Video: Available on GitHub repository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Side Projects &amp; Certifications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Side Projects:</a:t>
            </a:r>
          </a:p>
          <a:p>
            <a:pPr>
              <a:defRPr sz="1800"/>
            </a:pPr>
            <a:r>
              <a:t>- vGPU‑Sim: Multi‑tenant GPU architecture simulator</a:t>
            </a:r>
          </a:p>
          <a:p>
            <a:pPr>
              <a:defRPr sz="1800"/>
            </a:pPr>
            <a:r>
              <a:t>- AI‑Powered E‑commerce Recommendation Platform</a:t>
            </a:r>
          </a:p>
          <a:p>
            <a:pPr>
              <a:defRPr sz="1800"/>
            </a:pPr>
            <a:r>
              <a:t>  • Recommendation algorithm, shopping cart, CI/CD pipeline (DVC, Airflow, GitHub Actions)</a:t>
            </a:r>
          </a:p>
          <a:p>
            <a:pPr>
              <a:defRPr sz="1800"/>
            </a:pPr>
            <a:r>
              <a:t>  • 11× inference speedup, 0.13 NDCG</a:t>
            </a:r>
          </a:p>
          <a:p>
            <a:pPr>
              <a:defRPr sz="1800"/>
            </a:pPr>
            <a:r>
              <a:t>  • Technologies: MLOps, MLflow, Airflow, DVC, CI/CD, Docker, Git, FastAPI, Transformer, GQA, KV Caching</a:t>
            </a:r>
          </a:p>
          <a:p>
            <a:pPr>
              <a:defRPr sz="1800"/>
            </a:pPr>
            <a:r>
              <a:t>  • Demo Video: Link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Certifications:</a:t>
            </a:r>
          </a:p>
          <a:p>
            <a:pPr>
              <a:defRPr sz="1800"/>
            </a:pPr>
            <a:r>
              <a:t>- Google Cloud Certificate of Completion</a:t>
            </a:r>
          </a:p>
          <a:p>
            <a:pPr>
              <a:defRPr sz="1800"/>
            </a:pPr>
            <a:r>
              <a:t>- AWS Certified AI Practitioner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 Experience &amp; Master’s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 Application Development Intern, ESMT (Jul–Aug 2025)</a:t>
            </a:r>
          </a:p>
          <a:p>
            <a:pPr>
              <a:defRPr sz="1800"/>
            </a:pPr>
            <a:r>
              <a:t>- Platforms: GCP Vertex AI, AWS SageMaker, Bedrock, Amazon Q</a:t>
            </a:r>
          </a:p>
          <a:p>
            <a:pPr>
              <a:defRPr sz="1800"/>
            </a:pPr>
            <a:r>
              <a:t>- Projects:</a:t>
            </a:r>
          </a:p>
          <a:p>
            <a:pPr>
              <a:defRPr sz="1800"/>
            </a:pPr>
            <a:r>
              <a:t>  • Multimodal Retrieval‑Augmented Generation (RAG) Q&amp;A system – 0.82 faithfulness, 0.71 relevancy</a:t>
            </a:r>
          </a:p>
          <a:p>
            <a:pPr>
              <a:defRPr sz="1800"/>
            </a:pPr>
            <a:r>
              <a:t>  • Custom RAG for large‑scale documents</a:t>
            </a:r>
          </a:p>
          <a:p>
            <a:pPr>
              <a:defRPr sz="1800"/>
            </a:pPr>
            <a:r>
              <a:t>  • AI agent generating PowerPoint presentations from uploaded files</a:t>
            </a:r>
          </a:p>
          <a:p>
            <a:pPr>
              <a:defRPr sz="1800"/>
            </a:pPr>
            <a:r>
              <a:t>  • Demo videos available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Master’s Thesis: "AI Security / Prompt Injection Defense / AST / Perplexity / Prompt Engineering / Code LLM"</a:t>
            </a:r>
          </a:p>
          <a:p>
            <a:pPr>
              <a:defRPr sz="1800"/>
            </a:pPr>
            <a:r>
              <a:t>- Dual‑Guardrail system detecting malicious prompts via logits &amp; Min‑K% token anomaly</a:t>
            </a:r>
          </a:p>
          <a:p>
            <a:pPr>
              <a:defRPr sz="1800"/>
            </a:pPr>
            <a:r>
              <a:t>- Results: 0.938 F1, 7 % false‑positive, reduced CodeBERT attack success from 99.3 % to 11.1 % (vs 81.7 % baseline)</a:t>
            </a:r>
          </a:p>
          <a:p>
            <a:pPr>
              <a:defRPr sz="1800"/>
            </a:pPr>
            <a:r>
              <a:t>- Subtitle: "Defending External Code against Indirect Prompt Injection"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Internship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AI Security Researcher Intern, Hon Hai (Feb–Jun 2025)</a:t>
            </a:r>
          </a:p>
          <a:p>
            <a:pPr>
              <a:defRPr sz="1800"/>
            </a:pPr>
            <a:r>
              <a:t>- Focus: Python, AI security, data poisoning, perplexity</a:t>
            </a:r>
          </a:p>
          <a:p>
            <a:pPr>
              <a:defRPr sz="1800"/>
            </a:pPr>
            <a:r>
              <a:t>- Achievement: 0.88 F1 detecting Code LLM training data poisoning using DePA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Overall Impact:</a:t>
            </a:r>
          </a:p>
          <a:p>
            <a:pPr>
              <a:defRPr sz="1800"/>
            </a:pPr>
            <a:r>
              <a:t>- Demonstrated expertise in GPU systems, MLOps, and AI security</a:t>
            </a:r>
          </a:p>
          <a:p>
            <a:pPr>
              <a:defRPr sz="1800"/>
            </a:pPr>
            <a:r>
              <a:t>- Delivered measurable performance gains and robust defense mechanisms</a:t>
            </a:r>
          </a:p>
          <a:p>
            <a:pPr>
              <a:defRPr sz="1800"/>
            </a:pPr>
            <a:r>
              <a:t>- Provided demo videos and certifications to substantiate claims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清單圖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👤
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個人簡介
</a:t>
            </a:r>
            <a:r>
              <a:rPr sz="1000">
                <a:solidFill>
                  <a:srgbClr val="000000"/>
                </a:solidFill>
              </a:rPr>
              <a:t>姓名、學歷、聯絡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🛠️
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6888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技術專長
</a:t>
            </a:r>
            <a:r>
              <a:rPr sz="1000">
                <a:solidFill>
                  <a:srgbClr val="000000"/>
                </a:solidFill>
              </a:rPr>
              <a:t>GPU、C++、ARM64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📁
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專案與證照
</a:t>
            </a:r>
            <a:r>
              <a:rPr sz="1000">
                <a:solidFill>
                  <a:srgbClr val="000000"/>
                </a:solidFill>
              </a:rPr>
              <a:t>vGPU‑Sim、AI 平台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2011680" cy="9144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🏢
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743200"/>
            <a:ext cx="2011680" cy="1828800"/>
          </a:xfrm>
          <a:prstGeom prst="roundRect">
            <a:avLst/>
          </a:prstGeom>
          <a:solidFill>
            <a:srgbClr val="DA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</a:rPr>
              <a:t>工作經驗與論文
</a:t>
            </a:r>
            <a:r>
              <a:rPr sz="1000">
                <a:solidFill>
                  <a:srgbClr val="000000"/>
                </a:solidFill>
              </a:rPr>
              <a:t>實習、論文、影響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循環圖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132588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👤
</a:t>
            </a:r>
            <a:r>
              <a:rPr sz="1300" b="1">
                <a:solidFill>
                  <a:srgbClr val="000000"/>
                </a:solidFill>
              </a:rPr>
              <a:t>個人簡介
</a:t>
            </a:r>
          </a:p>
        </p:txBody>
      </p:sp>
      <p:sp>
        <p:nvSpPr>
          <p:cNvPr id="4" name="Oval 3"/>
          <p:cNvSpPr/>
          <p:nvPr/>
        </p:nvSpPr>
        <p:spPr>
          <a:xfrm>
            <a:off x="5394960" y="306324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🛠️
</a:t>
            </a:r>
            <a:r>
              <a:rPr sz="1300" b="1">
                <a:solidFill>
                  <a:srgbClr val="000000"/>
                </a:solidFill>
              </a:rPr>
              <a:t>技術專長
</a:t>
            </a:r>
          </a:p>
        </p:txBody>
      </p:sp>
      <p:sp>
        <p:nvSpPr>
          <p:cNvPr id="5" name="Oval 4"/>
          <p:cNvSpPr/>
          <p:nvPr/>
        </p:nvSpPr>
        <p:spPr>
          <a:xfrm>
            <a:off x="3657600" y="480060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📁
</a:t>
            </a:r>
            <a:r>
              <a:rPr sz="1300" b="1">
                <a:solidFill>
                  <a:srgbClr val="000000"/>
                </a:solidFill>
              </a:rPr>
              <a:t>專案與證照
</a:t>
            </a:r>
          </a:p>
        </p:txBody>
      </p:sp>
      <p:sp>
        <p:nvSpPr>
          <p:cNvPr id="6" name="Oval 5"/>
          <p:cNvSpPr/>
          <p:nvPr/>
        </p:nvSpPr>
        <p:spPr>
          <a:xfrm>
            <a:off x="1920240" y="3063240"/>
            <a:ext cx="1828800" cy="1645920"/>
          </a:xfrm>
          <a:prstGeom prst="ellipse">
            <a:avLst/>
          </a:prstGeom>
          <a:solidFill>
            <a:srgbClr val="DDEBF7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0066CC"/>
                </a:solidFill>
                <a:latin typeface="Segoe UI Emoji"/>
              </a:rPr>
              <a:t>🏢
</a:t>
            </a:r>
            <a:r>
              <a:rPr sz="1300" b="1">
                <a:solidFill>
                  <a:srgbClr val="000000"/>
                </a:solidFill>
              </a:rPr>
              <a:t>工作經驗與論文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