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Streamlit front‑end</a:t>
            </a:r>
          </a:p>
          <a:p>
            <a:pPr>
              <a:defRPr sz="1800"/>
            </a:pPr>
            <a:r>
              <a:t>FAISS vector store + Ollama embeddings</a:t>
            </a:r>
          </a:p>
          <a:p>
            <a:pPr>
              <a:defRPr sz="1800"/>
            </a:pPr>
            <a:r>
              <a:t>LangChain LLM pipeline</a:t>
            </a:r>
          </a:p>
          <a:p>
            <a:pPr>
              <a:defRPr sz="1800"/>
            </a:pPr>
            <a:r>
              <a:t>Modular helper modules (embedding, reranking, LLM, UI, config)</a:t>
            </a:r>
          </a:p>
          <a:p>
            <a:pPr>
              <a:defRPr sz="1800"/>
            </a:pPr>
            <a:r>
              <a:t>All data stored locally – no external DB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End‑to‑End User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1️⃣ Knowledge Base Page – create / select DB, upload PDF/Word/Images/text</a:t>
            </a:r>
          </a:p>
          <a:p>
            <a:pPr>
              <a:defRPr sz="1800"/>
            </a:pPr>
            <a:r>
              <a:t>2️⃣ Automatic chunking &amp; embedding via Ollama</a:t>
            </a:r>
          </a:p>
          <a:p>
            <a:pPr>
              <a:defRPr sz="1800"/>
            </a:pPr>
            <a:r>
              <a:t>3️⃣ FAISS index built &amp; saved under vectorstores/</a:t>
            </a:r>
          </a:p>
          <a:p>
            <a:pPr>
              <a:defRPr sz="1800"/>
            </a:pPr>
            <a:r>
              <a:t>4️⃣ Question‑Answer Page – choose DB, LLM, retrieval mode, set temperature/top‑p</a:t>
            </a:r>
          </a:p>
          <a:p>
            <a:pPr>
              <a:defRPr sz="1800"/>
            </a:pPr>
            <a:r>
              <a:t>5️⃣ Query → retrieval (vector + optional rerank) → LLM → answer + source snippets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Strategies &amp;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• Basic – nearest‑neighbor only</a:t>
            </a:r>
          </a:p>
          <a:p>
            <a:pPr>
              <a:defRPr sz="1800"/>
            </a:pPr>
            <a:r>
              <a:t>• MMR – suppresses redundant chunks, promotes diversity</a:t>
            </a:r>
          </a:p>
          <a:p>
            <a:pPr>
              <a:defRPr sz="1800"/>
            </a:pPr>
            <a:r>
              <a:t>• Reranking – two‑stage: similarity → dedicated reranker for relevance</a:t>
            </a:r>
          </a:p>
          <a:p>
            <a:pPr>
              <a:defRPr sz="1800"/>
            </a:pPr>
            <a:r>
              <a:t>• Custom RAG – fetch top chunk, feed entire source document to LLM for coherence</a:t>
            </a:r>
          </a:p>
          <a:p>
            <a:pPr>
              <a:defRPr sz="1800"/>
            </a:pPr>
            <a:r>
              <a:t>All strategies selectable in UI; screenshots show improved hit‑rate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UI &amp; Knowledge‑Base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Separate knowledge‑base creation from Q&amp;A</a:t>
            </a:r>
          </a:p>
          <a:p>
            <a:pPr>
              <a:defRPr sz="1800"/>
            </a:pPr>
            <a:r>
              <a:t>Manage databases: create, edit, delete, add/remove files</a:t>
            </a:r>
          </a:p>
          <a:p>
            <a:pPr>
              <a:defRPr sz="1800"/>
            </a:pPr>
            <a:r>
              <a:t>Adjust chunk size &amp; overlap via side‑bar</a:t>
            </a:r>
          </a:p>
          <a:p>
            <a:pPr>
              <a:defRPr sz="1800"/>
            </a:pPr>
            <a:r>
              <a:t>Retrieve mode selector (Basic, MMR, Rerank, Custom)</a:t>
            </a:r>
          </a:p>
          <a:p>
            <a:pPr>
              <a:defRPr sz="1800"/>
            </a:pPr>
            <a:r>
              <a:t>Immediate rebuild of FAISS index after file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Codebase Highlights &amp; 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app.py – global config, page routing</a:t>
            </a:r>
          </a:p>
          <a:p>
            <a:pPr>
              <a:defRPr sz="1800"/>
            </a:pPr>
            <a:r>
              <a:t>pages/Build_Knowledge_Base.py – DB UI</a:t>
            </a:r>
          </a:p>
          <a:p>
            <a:pPr>
              <a:defRPr sz="1800"/>
            </a:pPr>
            <a:r>
              <a:t>pages/Answering_Interface.py – query UI</a:t>
            </a:r>
          </a:p>
          <a:p>
            <a:pPr>
              <a:defRPr sz="1800"/>
            </a:pPr>
            <a:r>
              <a:t>RAG_Embedding.py – custom OllamaEmbeddings, FAISS construction</a:t>
            </a:r>
          </a:p>
          <a:p>
            <a:pPr>
              <a:defRPr sz="1800"/>
            </a:pPr>
            <a:r>
              <a:t>RAG_LLM_Generator.py – prompt + LLM call, think extraction</a:t>
            </a:r>
          </a:p>
          <a:p>
            <a:pPr>
              <a:defRPr sz="1800"/>
            </a:pPr>
            <a:r>
              <a:t>reranking.py – MMR / custom reranker</a:t>
            </a:r>
          </a:p>
          <a:p>
            <a:pPr>
              <a:defRPr sz="1800"/>
            </a:pPr>
            <a:r>
              <a:t>Demo shows live question, answer, source passages, and chain‑of‑thought when available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清單圖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🔧
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系統架構與模組
</a:t>
            </a:r>
            <a:r>
              <a:rPr sz="1000">
                <a:solidFill>
                  <a:srgbClr val="000000"/>
                </a:solidFill>
              </a:rPr>
              <a:t>整合前端、向量庫、LLM、模組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📚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知識庫管理與用戶介面
</a:t>
            </a:r>
            <a:r>
              <a:rPr sz="1000">
                <a:solidFill>
                  <a:srgbClr val="000000"/>
                </a:solidFill>
              </a:rPr>
              <a:t>創建/選擇DB、管理檔案、設置分塊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🔍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查詢與檢索流程
</a:t>
            </a:r>
            <a:r>
              <a:rPr sz="1000">
                <a:solidFill>
                  <a:srgbClr val="000000"/>
                </a:solidFill>
              </a:rPr>
              <a:t>輸入問題 → 向量檢索 → LLM 回答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💻
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程式碼架構與實作
</a:t>
            </a:r>
            <a:r>
              <a:rPr sz="1000">
                <a:solidFill>
                  <a:srgbClr val="000000"/>
                </a:solidFill>
              </a:rPr>
              <a:t>檔案結構、功能模組說明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循環圖</a:t>
            </a:r>
          </a:p>
        </p:txBody>
      </p:sp>
      <p:sp>
        <p:nvSpPr>
          <p:cNvPr id="3" name="Oval 2"/>
          <p:cNvSpPr/>
          <p:nvPr/>
        </p:nvSpPr>
        <p:spPr>
          <a:xfrm>
            <a:off x="3657600" y="132588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🔧
</a:t>
            </a:r>
            <a:r>
              <a:rPr sz="1300" b="1">
                <a:solidFill>
                  <a:srgbClr val="000000"/>
                </a:solidFill>
              </a:rPr>
              <a:t>系統架構與模組
</a:t>
            </a:r>
          </a:p>
        </p:txBody>
      </p:sp>
      <p:sp>
        <p:nvSpPr>
          <p:cNvPr id="4" name="Oval 3"/>
          <p:cNvSpPr/>
          <p:nvPr/>
        </p:nvSpPr>
        <p:spPr>
          <a:xfrm>
            <a:off x="5394960" y="306324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📚
</a:t>
            </a:r>
            <a:r>
              <a:rPr sz="1300" b="1">
                <a:solidFill>
                  <a:srgbClr val="000000"/>
                </a:solidFill>
              </a:rPr>
              <a:t>知識庫管理與用戶介面
</a:t>
            </a:r>
          </a:p>
        </p:txBody>
      </p:sp>
      <p:sp>
        <p:nvSpPr>
          <p:cNvPr id="5" name="Oval 4"/>
          <p:cNvSpPr/>
          <p:nvPr/>
        </p:nvSpPr>
        <p:spPr>
          <a:xfrm>
            <a:off x="3657600" y="480060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🔍
</a:t>
            </a:r>
            <a:r>
              <a:rPr sz="1300" b="1">
                <a:solidFill>
                  <a:srgbClr val="000000"/>
                </a:solidFill>
              </a:rPr>
              <a:t>查詢與檢索流程
</a:t>
            </a:r>
          </a:p>
        </p:txBody>
      </p:sp>
      <p:sp>
        <p:nvSpPr>
          <p:cNvPr id="6" name="Oval 5"/>
          <p:cNvSpPr/>
          <p:nvPr/>
        </p:nvSpPr>
        <p:spPr>
          <a:xfrm>
            <a:off x="1920240" y="306324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💻
</a:t>
            </a:r>
            <a:r>
              <a:rPr sz="1300" b="1">
                <a:solidFill>
                  <a:srgbClr val="000000"/>
                </a:solidFill>
              </a:rPr>
              <a:t>程式碼架構與實作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