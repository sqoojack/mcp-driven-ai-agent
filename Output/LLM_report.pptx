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 of the RAG Q&amp;A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The RAG Q&amp;A System combines vector search, LLM generation, and a user‑friendly interface.</a:t>
            </a:r>
          </a:p>
          <a:p>
            <a:pPr>
              <a:defRPr sz="2000"/>
            </a:pPr>
            <a:r>
              <a:t>It supports multiple file types, dynamic knowledge‑base creation, and flexible retrieval strategies.</a:t>
            </a:r>
          </a:p>
          <a:p>
            <a:pPr>
              <a:defRPr sz="2000"/>
            </a:pPr>
            <a:r>
              <a:t>The report outlines the workflow, technical choices, and UI improvements.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End‑to‑End Usage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1. Knowledge‑base creation page – select or create DB, upload files, choose image‑embedding model.</a:t>
            </a:r>
          </a:p>
          <a:p>
            <a:pPr>
              <a:defRPr sz="2000"/>
            </a:pPr>
            <a:r>
              <a:t>2. Files are chunked, embedded via Ollama, stored in FAISS.</a:t>
            </a:r>
          </a:p>
          <a:p>
            <a:pPr>
              <a:defRPr sz="2000"/>
            </a:pPr>
            <a:r>
              <a:t>3. Q&amp;A interface – pick DB, set LLM params, enter question.</a:t>
            </a:r>
          </a:p>
          <a:p>
            <a:pPr>
              <a:defRPr sz="2000"/>
            </a:pPr>
            <a:r>
              <a:t>4. System retrieves relevant chunks, calls LLM, returns answer + source passages.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Retrieval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MMR – promotes diversity by penalizing similar chunks.</a:t>
            </a:r>
          </a:p>
          <a:p>
            <a:pPr>
              <a:defRPr sz="2000"/>
            </a:pPr>
            <a:r>
              <a:t>Reranking – post‑process similarity results with a dedicated model for higher relevance.</a:t>
            </a:r>
          </a:p>
          <a:p>
            <a:pPr>
              <a:defRPr sz="2000"/>
            </a:pPr>
            <a:r>
              <a:t>Custom RAG – fetch top chunk, feed entire document to LLM for completeness, useful with many files.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UI Enhancements &amp; Database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• Separate knowledge‑base creation from Q&amp;A.</a:t>
            </a:r>
          </a:p>
          <a:p>
            <a:pPr>
              <a:defRPr sz="2000"/>
            </a:pPr>
            <a:r>
              <a:t>• Persistent DB list with metadata (chunk_size, overlap).</a:t>
            </a:r>
          </a:p>
          <a:p>
            <a:pPr>
              <a:defRPr sz="2000"/>
            </a:pPr>
            <a:r>
              <a:t>• Add/remove files on the fly.</a:t>
            </a:r>
          </a:p>
          <a:p>
            <a:pPr>
              <a:defRPr sz="2000"/>
            </a:pPr>
            <a:r>
              <a:t>• Retrieval mode selector (Basic, Reranking, MMR, Custom).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File Upload Processor &amp; Document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Upload_file module handles PDFs, images, Word, PPT, audio, video, text.</a:t>
            </a:r>
          </a:p>
          <a:p>
            <a:pPr>
              <a:defRPr sz="2000"/>
            </a:pPr>
            <a:r>
              <a:t>OCR via Tesseract, image captions via Ollama multimodal, Whisper for speech.</a:t>
            </a:r>
          </a:p>
          <a:p>
            <a:pPr>
              <a:defRPr sz="2000"/>
            </a:pPr>
            <a:r>
              <a:t>All content wrapped in LangChain Document with metadata for source tracking.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Streamlit App Architecture &amp;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• app.py – page config, sidebar navigation.</a:t>
            </a:r>
          </a:p>
          <a:p>
            <a:pPr>
              <a:defRPr sz="2000"/>
            </a:pPr>
            <a:r>
              <a:t>• pages/Build_Knowledge_Base.py – DB management.</a:t>
            </a:r>
          </a:p>
          <a:p>
            <a:pPr>
              <a:defRPr sz="2000"/>
            </a:pPr>
            <a:r>
              <a:t>• pages/Answering_Interface.py – query interface.</a:t>
            </a:r>
          </a:p>
          <a:p>
            <a:pPr>
              <a:defRPr sz="2000"/>
            </a:pPr>
            <a:r>
              <a:t>• RAG_Embedding.py – vector store CRUD.</a:t>
            </a:r>
          </a:p>
          <a:p>
            <a:pPr>
              <a:defRPr sz="2000"/>
            </a:pPr>
            <a:r>
              <a:t>• RAG_LLM_Generator.py – prompt construction &amp; LLM call.</a:t>
            </a:r>
          </a:p>
          <a:p>
            <a:pPr>
              <a:defRPr sz="2000"/>
            </a:pPr>
            <a:r>
              <a:t>• reranking.py – chunk reranking.</a:t>
            </a:r>
          </a:p>
          <a:p>
            <a:pPr>
              <a:defRPr sz="2000"/>
            </a:pPr>
            <a:r>
              <a:t>• utils.py, config.py – helpers and defaults.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Features &amp;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• Multi‑format ingestion and dynamic DB updates.</a:t>
            </a:r>
          </a:p>
          <a:p>
            <a:pPr>
              <a:defRPr sz="2000"/>
            </a:pPr>
            <a:r>
              <a:t>• Fast FAISS retrieval with Ollama embeddings.</a:t>
            </a:r>
          </a:p>
          <a:p>
            <a:pPr>
              <a:defRPr sz="2000"/>
            </a:pPr>
            <a:r>
              <a:t>• Flexible retrieval strategies for accuracy &amp; diversity.</a:t>
            </a:r>
          </a:p>
          <a:p>
            <a:pPr>
              <a:defRPr sz="2000"/>
            </a:pPr>
            <a:r>
              <a:t>• Transparent answers with source passages and chain of thought.</a:t>
            </a:r>
          </a:p>
          <a:p>
            <a:pPr>
              <a:defRPr sz="2000"/>
            </a:pPr>
            <a:r>
              <a:t>• User‑controlled LLM parameters via 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清單圖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828800"/>
            <a:ext cx="2743200" cy="9144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📚
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2743200"/>
            <a:ext cx="2743200" cy="1828800"/>
          </a:xfrm>
          <a:prstGeom prst="roundRect">
            <a:avLst/>
          </a:prstGeom>
          <a:solidFill>
            <a:srgbClr val="DA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</a:rPr>
              <a:t>知識庫建立
</a:t>
            </a:r>
            <a:r>
              <a:rPr sz="1000">
                <a:solidFill>
                  <a:srgbClr val="000000"/>
                </a:solidFill>
              </a:rPr>
              <a:t>選擇/建立 DB、上傳檔案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28800"/>
            <a:ext cx="2743200" cy="9144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🤖
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2743200"/>
            <a:ext cx="2743200" cy="1828800"/>
          </a:xfrm>
          <a:prstGeom prst="roundRect">
            <a:avLst/>
          </a:prstGeom>
          <a:solidFill>
            <a:srgbClr val="DA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</a:rPr>
              <a:t>檢索與生成
</a:t>
            </a:r>
            <a:r>
              <a:rPr sz="1000">
                <a:solidFill>
                  <a:srgbClr val="000000"/>
                </a:solidFill>
              </a:rPr>
              <a:t>檢索相關片段、LLM 回答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828800"/>
            <a:ext cx="2743200" cy="9144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🛠️
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743200"/>
            <a:ext cx="2743200" cy="1828800"/>
          </a:xfrm>
          <a:prstGeom prst="roundRect">
            <a:avLst/>
          </a:prstGeom>
          <a:solidFill>
            <a:srgbClr val="DA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</a:rPr>
              <a:t>系統架構與功能
</a:t>
            </a:r>
            <a:r>
              <a:rPr sz="1000">
                <a:solidFill>
                  <a:srgbClr val="000000"/>
                </a:solidFill>
              </a:rPr>
              <a:t>模組化設計、UI 優化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循環圖</a:t>
            </a:r>
          </a:p>
        </p:txBody>
      </p:sp>
      <p:sp>
        <p:nvSpPr>
          <p:cNvPr id="3" name="Oval 2"/>
          <p:cNvSpPr/>
          <p:nvPr/>
        </p:nvSpPr>
        <p:spPr>
          <a:xfrm>
            <a:off x="3657600" y="1417320"/>
            <a:ext cx="1828800" cy="1645920"/>
          </a:xfrm>
          <a:prstGeom prst="ellipse">
            <a:avLst/>
          </a:prstGeom>
          <a:solidFill>
            <a:srgbClr val="DD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📚
</a:t>
            </a:r>
            <a:r>
              <a:rPr sz="1300" b="1">
                <a:solidFill>
                  <a:srgbClr val="000000"/>
                </a:solidFill>
              </a:rPr>
              <a:t>知識庫建立
</a:t>
            </a:r>
          </a:p>
        </p:txBody>
      </p:sp>
      <p:sp>
        <p:nvSpPr>
          <p:cNvPr id="4" name="Oval 3"/>
          <p:cNvSpPr/>
          <p:nvPr/>
        </p:nvSpPr>
        <p:spPr>
          <a:xfrm>
            <a:off x="5083008" y="3886200"/>
            <a:ext cx="1828800" cy="1645920"/>
          </a:xfrm>
          <a:prstGeom prst="ellipse">
            <a:avLst/>
          </a:prstGeom>
          <a:solidFill>
            <a:srgbClr val="DD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🤖
</a:t>
            </a:r>
            <a:r>
              <a:rPr sz="1300" b="1">
                <a:solidFill>
                  <a:srgbClr val="000000"/>
                </a:solidFill>
              </a:rPr>
              <a:t>檢索與生成
</a:t>
            </a:r>
          </a:p>
        </p:txBody>
      </p:sp>
      <p:sp>
        <p:nvSpPr>
          <p:cNvPr id="5" name="Oval 4"/>
          <p:cNvSpPr/>
          <p:nvPr/>
        </p:nvSpPr>
        <p:spPr>
          <a:xfrm>
            <a:off x="2232191" y="3886200"/>
            <a:ext cx="1828800" cy="1645920"/>
          </a:xfrm>
          <a:prstGeom prst="ellipse">
            <a:avLst/>
          </a:prstGeom>
          <a:solidFill>
            <a:srgbClr val="DD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🛠️
</a:t>
            </a:r>
            <a:r>
              <a:rPr sz="1300" b="1">
                <a:solidFill>
                  <a:srgbClr val="000000"/>
                </a:solidFill>
              </a:rPr>
              <a:t>系統架構與功能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