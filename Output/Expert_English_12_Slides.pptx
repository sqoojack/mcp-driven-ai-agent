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AI-Driven PPT Generation Platform — Expert Technical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Objective: Transform heterogeneous inputs into production-ready PowerPoint decks</a:t>
            </a:r>
          </a:p>
          <a:p>
            <a:pPr>
              <a:defRPr sz="2000"/>
            </a:pPr>
            <a:r>
              <a:t>Scope: Architecture, model orchestration, reliability, and cloud integration</a:t>
            </a:r>
          </a:p>
          <a:p>
            <a:pPr>
              <a:defRPr sz="2000"/>
            </a:pPr>
            <a:r>
              <a:t>Audience: Engineers, solution architects, and AI platform specialists</a:t>
            </a:r>
          </a:p>
          <a:p>
            <a:pPr>
              <a:defRPr sz="2000"/>
            </a:pPr>
            <a:r>
              <a:t>Repository Basis: Current implementation under Create_PPT_Project</a:t>
            </a:r>
          </a:p>
          <a:p>
            <a:pPr>
              <a:defRPr sz="2000"/>
            </a:pPr>
            <a:r>
              <a:t>Output: 12-slide technical briefing with implementation-level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Framing and Design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Manual deck preparation is latency-heavy and difficult to standardize</a:t>
            </a:r>
          </a:p>
          <a:p>
            <a:pPr>
              <a:defRPr sz="2000"/>
            </a:pPr>
            <a:r>
              <a:t>Target system ingests multimodal artifacts and auto-produces concise slide narratives</a:t>
            </a:r>
          </a:p>
          <a:p>
            <a:pPr>
              <a:defRPr sz="2000"/>
            </a:pPr>
            <a:r>
              <a:t>Design priorities: extensibility, deterministic output shape, and cloud portability</a:t>
            </a:r>
          </a:p>
          <a:p>
            <a:pPr>
              <a:defRPr sz="2000"/>
            </a:pPr>
            <a:r>
              <a:t>Secondary priorities: configurable model stack, UX simplicity, and operational observability</a:t>
            </a:r>
          </a:p>
          <a:p>
            <a:pPr>
              <a:defRPr sz="2000"/>
            </a:pPr>
            <a:r>
              <a:t>Success metric: high signal-to-noise summaries with low operator effort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1) User uploads files (text, code, PDF, DOCX, PPT, image, audio/video)</a:t>
            </a:r>
          </a:p>
          <a:p>
            <a:pPr>
              <a:defRPr sz="2000"/>
            </a:pPr>
            <a:r>
              <a:t>2) Preprocessing normalizes each modality into textual evidence</a:t>
            </a:r>
          </a:p>
          <a:p>
            <a:pPr>
              <a:defRPr sz="2000"/>
            </a:pPr>
            <a:r>
              <a:t>3) LLM pass #1 generates per-file semantic summaries</a:t>
            </a:r>
          </a:p>
          <a:p>
            <a:pPr>
              <a:defRPr sz="2000"/>
            </a:pPr>
            <a:r>
              <a:t>4) LLM pass #2 composes a slide-wise JSON outline with strict schema</a:t>
            </a:r>
          </a:p>
          <a:p>
            <a:pPr>
              <a:defRPr sz="2000"/>
            </a:pPr>
            <a:r>
              <a:t>5) Renderer converts JSON into PPTX and optionally appends architecture diagrams</a:t>
            </a:r>
          </a:p>
          <a:p>
            <a:pPr>
              <a:defRPr sz="2000"/>
            </a:pPr>
            <a:r>
              <a:t>6) Generated artifact is uploaded to S3 and exposed via presigned URL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Modules and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main.py: Streamlit UI, runtime controls, and orchestration entrypoint</a:t>
            </a:r>
          </a:p>
          <a:p>
            <a:pPr>
              <a:defRPr sz="2000"/>
            </a:pPr>
            <a:r>
              <a:t>uploaded_file.py: modality-specific extraction (OCR, transcription, parsing)</a:t>
            </a:r>
          </a:p>
          <a:p>
            <a:pPr>
              <a:defRPr sz="2000"/>
            </a:pPr>
            <a:r>
              <a:t>create_ppt.py: two-stage prompting plus PPTX materialization</a:t>
            </a:r>
          </a:p>
          <a:p>
            <a:pPr>
              <a:defRPr sz="2000"/>
            </a:pPr>
            <a:r>
              <a:t>ppt_draw.py: graph/node abstraction and diagram embedding</a:t>
            </a:r>
          </a:p>
          <a:p>
            <a:pPr>
              <a:defRPr sz="2000"/>
            </a:pPr>
            <a:r>
              <a:t>aws_utils.py: S3 upload and signed download URL generation</a:t>
            </a:r>
          </a:p>
          <a:p>
            <a:pPr>
              <a:defRPr sz="2000"/>
            </a:pPr>
            <a:r>
              <a:t>mcp_server.py: toolified server interface for programmatic deck generation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Multimodal Ingestion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PDF: page-level text extraction via PyPDF2</a:t>
            </a:r>
          </a:p>
          <a:p>
            <a:pPr>
              <a:defRPr sz="2000"/>
            </a:pPr>
            <a:r>
              <a:t>Images: OCR + vision-language captioning fusion for semantic completeness</a:t>
            </a:r>
          </a:p>
          <a:p>
            <a:pPr>
              <a:defRPr sz="2000"/>
            </a:pPr>
            <a:r>
              <a:t>DOCX/PPT: object and paragraph traversal for structured text capture</a:t>
            </a:r>
          </a:p>
          <a:p>
            <a:pPr>
              <a:defRPr sz="2000"/>
            </a:pPr>
            <a:r>
              <a:t>Audio/Video: Whisper-based transcription for speech-to-text conversion</a:t>
            </a:r>
          </a:p>
          <a:p>
            <a:pPr>
              <a:defRPr sz="2000"/>
            </a:pPr>
            <a:r>
              <a:t>Plain text/code: encoding fallback strategy (UTF-8 then Big5 ignore)</a:t>
            </a:r>
          </a:p>
          <a:p>
            <a:pPr>
              <a:defRPr sz="2000"/>
            </a:pPr>
            <a:r>
              <a:t>Normalization output: unified textual corpus per uploaded asset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Two-Stage LLM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Stage 1 prompt: local semantic analysis for each individual file</a:t>
            </a:r>
          </a:p>
          <a:p>
            <a:pPr>
              <a:defRPr sz="2000"/>
            </a:pPr>
            <a:r>
              <a:t>Stage 2 prompt: constrained JSON emission with exact slide cardinality</a:t>
            </a:r>
          </a:p>
          <a:p>
            <a:pPr>
              <a:defRPr sz="2000"/>
            </a:pPr>
            <a:r>
              <a:t>Controllable knobs: model selection, temperature, audience level, language</a:t>
            </a:r>
          </a:p>
          <a:p>
            <a:pPr>
              <a:defRPr sz="2000"/>
            </a:pPr>
            <a:r>
              <a:t>Benefit: decomposition improves coherence versus single-shot generation</a:t>
            </a:r>
          </a:p>
          <a:p>
            <a:pPr>
              <a:defRPr sz="2000"/>
            </a:pPr>
            <a:r>
              <a:t>Risk: JSON robustness depends on model compliance and output sanitization</a:t>
            </a:r>
          </a:p>
          <a:p>
            <a:pPr>
              <a:defRPr sz="2000"/>
            </a:pPr>
            <a:r>
              <a:t>Mitigation present: regex extraction and safe JSON parse fallback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PPT Rendering Engine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Renderer uses python-pptx with title/content layout template</a:t>
            </a:r>
          </a:p>
          <a:p>
            <a:pPr>
              <a:defRPr sz="2000"/>
            </a:pPr>
            <a:r>
              <a:t>Each slide is generated from schema keys: title + multi-line content</a:t>
            </a:r>
          </a:p>
          <a:p>
            <a:pPr>
              <a:defRPr sz="2000"/>
            </a:pPr>
            <a:r>
              <a:t>Font size is user-adjustable; content split by line into paragraphs</a:t>
            </a:r>
          </a:p>
          <a:p>
            <a:pPr>
              <a:defRPr sz="2000"/>
            </a:pPr>
            <a:r>
              <a:t>Current implementation is deterministic and lightweight</a:t>
            </a:r>
          </a:p>
          <a:p>
            <a:pPr>
              <a:defRPr sz="2000"/>
            </a:pPr>
            <a:r>
              <a:t>Trade-off: limited rich layout semantics (tables, charts, adaptive text fit)</a:t>
            </a:r>
          </a:p>
          <a:p>
            <a:pPr>
              <a:defRPr sz="2000"/>
            </a:pPr>
            <a:r>
              <a:t>Opportunity: introduce theme packs and semantic layout policies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Integration and Delivery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Artifacts are uploaded to S3 for persistence and team distribution</a:t>
            </a:r>
          </a:p>
          <a:p>
            <a:pPr>
              <a:defRPr sz="2000"/>
            </a:pPr>
            <a:r>
              <a:t>Presigned URLs provide time-bounded secure access</a:t>
            </a:r>
          </a:p>
          <a:p>
            <a:pPr>
              <a:defRPr sz="2000"/>
            </a:pPr>
            <a:r>
              <a:t>Original user uploads are also backed up for traceability</a:t>
            </a:r>
          </a:p>
          <a:p>
            <a:pPr>
              <a:defRPr sz="2000"/>
            </a:pPr>
            <a:r>
              <a:t>Integration boundary is cleanly encapsulated in AWSManager</a:t>
            </a:r>
          </a:p>
          <a:p>
            <a:pPr>
              <a:defRPr sz="2000"/>
            </a:pPr>
            <a:r>
              <a:t>Operational dependency: valid AWS credentials and bucket policy correctness</a:t>
            </a:r>
          </a:p>
          <a:p>
            <a:pPr>
              <a:defRPr sz="2000"/>
            </a:pPr>
            <a:r>
              <a:t>Recommended next step: checksum/version tagging for artifact lineage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Quality, Reliability, and Failure Modes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Potential failures: model timeout, malformed JSON, OCR noise, media decode errors</a:t>
            </a:r>
          </a:p>
          <a:p>
            <a:pPr>
              <a:defRPr sz="2000"/>
            </a:pPr>
            <a:r>
              <a:t>Current resilience: defensive parsing and minimal exception handling</a:t>
            </a:r>
          </a:p>
          <a:p>
            <a:pPr>
              <a:defRPr sz="2000"/>
            </a:pPr>
            <a:r>
              <a:t>Reliability gaps: limited retry/backoff, sparse structured logging, no circuit breakers</a:t>
            </a:r>
          </a:p>
          <a:p>
            <a:pPr>
              <a:defRPr sz="2000"/>
            </a:pPr>
            <a:r>
              <a:t>Validation gaps: no explicit schema validator before rendering</a:t>
            </a:r>
          </a:p>
          <a:p>
            <a:pPr>
              <a:defRPr sz="2000"/>
            </a:pPr>
            <a:r>
              <a:t>Proposed hardening: Pydantic schema checks + idempotent retries + telemetry hooks</a:t>
            </a:r>
          </a:p>
          <a:p>
            <a:pPr>
              <a:defRPr sz="2000"/>
            </a:pPr>
            <a:r>
              <a:t>Testing target: golden-slide regression snapshots for deterministic verification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and Compliance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Data path includes potentially sensitive user content and generated summaries</a:t>
            </a:r>
          </a:p>
          <a:p>
            <a:pPr>
              <a:defRPr sz="2000"/>
            </a:pPr>
            <a:r>
              <a:t>S3 exposure should enforce least privilege and short URL expiration windows</a:t>
            </a:r>
          </a:p>
          <a:p>
            <a:pPr>
              <a:defRPr sz="2000"/>
            </a:pPr>
            <a:r>
              <a:t>Secrets management should move from .env files to managed secret backends</a:t>
            </a:r>
          </a:p>
          <a:p>
            <a:pPr>
              <a:defRPr sz="2000"/>
            </a:pPr>
            <a:r>
              <a:t>Prompt-injection and malicious file payloads require sanitization policy</a:t>
            </a:r>
          </a:p>
          <a:p>
            <a:pPr>
              <a:defRPr sz="2000"/>
            </a:pPr>
            <a:r>
              <a:t>Recommended controls: file type whitelisting, size limits, malware scan pre-ingest</a:t>
            </a:r>
          </a:p>
          <a:p>
            <a:pPr>
              <a:defRPr sz="2000"/>
            </a:pPr>
            <a:r>
              <a:t>Auditability: persist request metadata and generation provenance records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Scalability and Evolution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Near term: async job queue to decouple UI latency from generation runtime</a:t>
            </a:r>
          </a:p>
          <a:p>
            <a:pPr>
              <a:defRPr sz="2000"/>
            </a:pPr>
            <a:r>
              <a:t>Mid term: cache per-file summaries to avoid repeated Stage-1 inference</a:t>
            </a:r>
          </a:p>
          <a:p>
            <a:pPr>
              <a:defRPr sz="2000"/>
            </a:pPr>
            <a:r>
              <a:t>Mid term: model routing by modality and cost/quality policy optimization</a:t>
            </a:r>
          </a:p>
          <a:p>
            <a:pPr>
              <a:defRPr sz="2000"/>
            </a:pPr>
            <a:r>
              <a:t>Long term: template intelligence (domain-specific deck styles)</a:t>
            </a:r>
          </a:p>
          <a:p>
            <a:pPr>
              <a:defRPr sz="2000"/>
            </a:pPr>
            <a:r>
              <a:t>Long term: evaluation harness for factuality, structure quality, and readability</a:t>
            </a:r>
          </a:p>
          <a:p>
            <a:pPr>
              <a:defRPr sz="2000"/>
            </a:pPr>
            <a:r>
              <a:t>Platform vision: reusable presentation-generation service layer via MCP APIs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 for Expert Stakeholders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The project already demonstrates a practical multimodal-to-PPT architecture</a:t>
            </a:r>
          </a:p>
          <a:p>
            <a:pPr>
              <a:defRPr sz="2000"/>
            </a:pPr>
            <a:r>
              <a:t>Strong foundation: modular pipeline, cloud handoff, and tool-accessible interfaces</a:t>
            </a:r>
          </a:p>
          <a:p>
            <a:pPr>
              <a:defRPr sz="2000"/>
            </a:pPr>
            <a:r>
              <a:t>Primary bottleneck is production-grade robustness rather than feature absence</a:t>
            </a:r>
          </a:p>
          <a:p>
            <a:pPr>
              <a:defRPr sz="2000"/>
            </a:pPr>
            <a:r>
              <a:t>Highest ROI improvements: schema validation, observability, and async orchestration</a:t>
            </a:r>
          </a:p>
          <a:p>
            <a:pPr>
              <a:defRPr sz="2000"/>
            </a:pPr>
            <a:r>
              <a:t>With targeted hardening, this can evolve into an enterprise-capable deck generation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