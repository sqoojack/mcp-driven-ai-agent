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背景與趨勢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人工智能（AI）與大型語言模型（LLM）正深刻改變軟體工程架構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• AI Agent成為新興技術焦點</a:t>
            </a:r>
          </a:p>
          <a:p>
            <a:pPr>
              <a:defRPr sz="1800"/>
            </a:pPr>
            <a:r>
              <a:t>• 本地端腳本封閉性問題亟待解決</a:t>
            </a:r>
          </a:p>
          <a:p>
            <a:pPr>
              <a:defRPr sz="1800"/>
            </a:pPr>
            <a:r>
              <a:t>• 智能化、自動化需求持續升溫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核心解決方案：MCP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Model Context Protocol（MCP）的三大核心價值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• 將本地端腳本轉化為標準化AI Agent工具</a:t>
            </a:r>
          </a:p>
          <a:p>
            <a:pPr>
              <a:defRPr sz="1800"/>
            </a:pPr>
            <a:r>
              <a:t>• 提供上下文協議與執行框架</a:t>
            </a:r>
          </a:p>
          <a:p>
            <a:pPr>
              <a:defRPr sz="1800"/>
            </a:pPr>
            <a:r>
              <a:t>• 支持跨平台、跨系統整合能力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MCP架構示意圖：</a:t>
            </a:r>
          </a:p>
          <a:p>
            <a:pPr>
              <a:defRPr sz="1800"/>
            </a:pPr>
            <a:r>
              <a:t>[示意圖描述：包含協議定義、上下文管理、執行引擎三大模塊]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應用場景與整合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三大關鍵應用方向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1. AI Agent自動化工作流</a:t>
            </a:r>
          </a:p>
          <a:p>
            <a:pPr>
              <a:defRPr sz="1800"/>
            </a:pPr>
            <a:r>
              <a:t>• 工作流程編排與狀態管理</a:t>
            </a:r>
          </a:p>
          <a:p>
            <a:pPr>
              <a:defRPr sz="1800"/>
            </a:pPr>
            <a:r>
              <a:t>• 多Agent協作機制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AWS S3雲端服務整合</a:t>
            </a:r>
          </a:p>
          <a:p>
            <a:pPr>
              <a:defRPr sz="1800"/>
            </a:pPr>
            <a:r>
              <a:t>• 資料存取與處理管道</a:t>
            </a:r>
          </a:p>
          <a:p>
            <a:pPr>
              <a:defRPr sz="1800"/>
            </a:pPr>
            <a:r>
              <a:t>• 安全性與權限管理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JSON結構化輸出應用</a:t>
            </a:r>
          </a:p>
          <a:p>
            <a:pPr>
              <a:defRPr sz="1800"/>
            </a:pPr>
            <a:r>
              <a:t>• 動態圖表生成與可視化</a:t>
            </a:r>
          </a:p>
          <a:p>
            <a:pPr>
              <a:defRPr sz="1800"/>
            </a:pPr>
            <a:r>
              <a:t>• 數據驅動決策支持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💡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核心概念
</a:t>
            </a:r>
            <a:r>
              <a:rPr sz="1000">
                <a:solidFill>
                  <a:srgbClr val="000000"/>
                </a:solidFill>
              </a:rPr>
              <a:t>AI Agent與MCP架構介紹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協議定義
</a:t>
            </a:r>
            <a:r>
              <a:rPr sz="1000">
                <a:solidFill>
                  <a:srgbClr val="000000"/>
                </a:solidFill>
              </a:rPr>
              <a:t>標準化腳本為AI工具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執行引擎
</a:t>
            </a:r>
            <a:r>
              <a:rPr sz="1000">
                <a:solidFill>
                  <a:srgbClr val="000000"/>
                </a:solidFill>
              </a:rPr>
              <a:t>跨平台Agent協作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應用場景
</a:t>
            </a:r>
            <a:r>
              <a:rPr sz="1000">
                <a:solidFill>
                  <a:srgbClr val="000000"/>
                </a:solidFill>
              </a:rPr>
              <a:t>工作流自動化與數據可視化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32588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💡
</a:t>
            </a:r>
            <a:r>
              <a:rPr sz="1300" b="1">
                <a:solidFill>
                  <a:srgbClr val="000000"/>
                </a:solidFill>
              </a:rPr>
              <a:t>核心概念
</a:t>
            </a:r>
          </a:p>
        </p:txBody>
      </p:sp>
      <p:sp>
        <p:nvSpPr>
          <p:cNvPr id="4" name="Oval 3"/>
          <p:cNvSpPr/>
          <p:nvPr/>
        </p:nvSpPr>
        <p:spPr>
          <a:xfrm>
            <a:off x="539496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  <a:r>
              <a:rPr sz="1300" b="1">
                <a:solidFill>
                  <a:srgbClr val="000000"/>
                </a:solidFill>
              </a:rPr>
              <a:t>協議定義
</a:t>
            </a:r>
          </a:p>
        </p:txBody>
      </p:sp>
      <p:sp>
        <p:nvSpPr>
          <p:cNvPr id="5" name="Oval 4"/>
          <p:cNvSpPr/>
          <p:nvPr/>
        </p:nvSpPr>
        <p:spPr>
          <a:xfrm>
            <a:off x="3657600" y="48006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  <a:r>
              <a:rPr sz="1300" b="1">
                <a:solidFill>
                  <a:srgbClr val="000000"/>
                </a:solidFill>
              </a:rPr>
              <a:t>執行引擎
</a:t>
            </a:r>
          </a:p>
        </p:txBody>
      </p:sp>
      <p:sp>
        <p:nvSpPr>
          <p:cNvPr id="6" name="Oval 5"/>
          <p:cNvSpPr/>
          <p:nvPr/>
        </p:nvSpPr>
        <p:spPr>
          <a:xfrm>
            <a:off x="192024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  <a:r>
              <a:rPr sz="1300" b="1">
                <a:solidFill>
                  <a:srgbClr val="000000"/>
                </a:solidFill>
              </a:rPr>
              <a:t>應用場景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