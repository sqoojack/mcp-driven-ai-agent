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對軟體工程的影響</a:t>
            </a:r>
          </a:p>
        </p:txBody>
      </p:sp>
      <p:sp>
        <p:nvSpPr>
          <p:cNvPr id="3" name="Content Placeholder 2"/>
          <p:cNvSpPr>
            <a:spLocks noGrp="1"/>
          </p:cNvSpPr>
          <p:nvPr>
            <p:ph idx="1"/>
          </p:nvPr>
        </p:nvSpPr>
        <p:spPr/>
        <p:txBody>
          <a:bodyPr/>
          <a:lstStyle/>
          <a:p>
            <a:pPr>
              <a:defRPr sz="1800"/>
            </a:pPr>
            <a:r>
              <a:t>人工智能與大型語言模型正深刻改變現代軟體工程的架構與實踐方式</a:t>
            </a:r>
          </a:p>
          <a:p>
            <a:pPr>
              <a:defRPr sz="1800"/>
            </a:pPr>
            <a:r>
              <a:t>AI Agent 的引入為自動化與智能化開發帶來新可能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MCP 協議的核心創新</a:t>
            </a:r>
          </a:p>
        </p:txBody>
      </p:sp>
      <p:sp>
        <p:nvSpPr>
          <p:cNvPr id="3" name="Content Placeholder 2"/>
          <p:cNvSpPr>
            <a:spLocks noGrp="1"/>
          </p:cNvSpPr>
          <p:nvPr>
            <p:ph idx="1"/>
          </p:nvPr>
        </p:nvSpPr>
        <p:spPr/>
        <p:txBody>
          <a:bodyPr/>
          <a:lstStyle/>
          <a:p>
            <a:pPr>
              <a:defRPr sz="1800"/>
            </a:pPr>
            <a:r>
              <a:t>MCP (Model Context Protocol) 將傳統封閉式本地腳本轉型為標準化 AI Agent 工具</a:t>
            </a:r>
          </a:p>
          <a:p>
            <a:pPr>
              <a:defRPr sz="1800"/>
            </a:pPr>
            <a:r>
              <a:t>實現軟體工程流程的協作化與可組合性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關鍵技術整合</a:t>
            </a:r>
          </a:p>
        </p:txBody>
      </p:sp>
      <p:sp>
        <p:nvSpPr>
          <p:cNvPr id="3" name="Content Placeholder 2"/>
          <p:cNvSpPr>
            <a:spLocks noGrp="1"/>
          </p:cNvSpPr>
          <p:nvPr>
            <p:ph idx="1"/>
          </p:nvPr>
        </p:nvSpPr>
        <p:spPr/>
        <p:txBody>
          <a:bodyPr/>
          <a:lstStyle/>
          <a:p>
            <a:pPr>
              <a:defRPr sz="1800"/>
            </a:pPr>
            <a:r>
              <a:t>1. 自動化工作流：利用 AI Agent 實現流程自動化</a:t>
            </a:r>
          </a:p>
          <a:p>
            <a:pPr>
              <a:defRPr sz="1800"/>
            </a:pPr>
            <a:r>
              <a:t>2. AWS S3 整合：實現雲端存儲與 AI Agent 的無縫對接</a:t>
            </a:r>
          </a:p>
          <a:p>
            <a:pPr>
              <a:defRPr sz="1800"/>
            </a:pPr>
            <a:r>
              <a:t>3. JSON 輸出與動態圖表：透過結構化資料驅動可視化分析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清單圖</a:t>
            </a:r>
          </a:p>
        </p:txBody>
      </p:sp>
      <p:sp>
        <p:nvSpPr>
          <p:cNvPr id="3" name="Rounded Rectangle 2"/>
          <p:cNvSpPr/>
          <p:nvPr/>
        </p:nvSpPr>
        <p:spPr>
          <a:xfrm>
            <a:off x="274320" y="1828800"/>
            <a:ext cx="2743200" cy="91440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a:solidFill>
                  <a:srgbClr val="0066CC"/>
                </a:solidFill>
                <a:latin typeface="Segoe UI Emoji"/>
              </a:rPr>
              <a:t>🔍
</a:t>
            </a:r>
          </a:p>
        </p:txBody>
      </p:sp>
      <p:sp>
        <p:nvSpPr>
          <p:cNvPr id="4" name="Rounded Rectangle 3"/>
          <p:cNvSpPr/>
          <p:nvPr/>
        </p:nvSpPr>
        <p:spPr>
          <a:xfrm>
            <a:off x="274320" y="2743200"/>
            <a:ext cx="2743200" cy="1828800"/>
          </a:xfrm>
          <a:prstGeom prst="roundRect">
            <a:avLst/>
          </a:prstGeom>
          <a:solidFill>
            <a:srgbClr val="DAEBF7"/>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pPr>
            <a:r>
              <a:rPr sz="1300" b="1">
                <a:solidFill>
                  <a:srgbClr val="000000"/>
                </a:solidFill>
              </a:rPr>
              <a:t>AI Agent 引入
</a:t>
            </a:r>
            <a:r>
              <a:rPr sz="1000">
                <a:solidFill>
                  <a:srgbClr val="000000"/>
                </a:solidFill>
              </a:rPr>
              <a:t>介紹 AI Agent 的自動化與智能化概念</a:t>
            </a:r>
          </a:p>
        </p:txBody>
      </p:sp>
      <p:sp>
        <p:nvSpPr>
          <p:cNvPr id="5" name="Rounded Rectangle 4"/>
          <p:cNvSpPr/>
          <p:nvPr/>
        </p:nvSpPr>
        <p:spPr>
          <a:xfrm>
            <a:off x="3200400" y="1828800"/>
            <a:ext cx="2743200" cy="91440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a:solidFill>
                  <a:srgbClr val="0066CC"/>
                </a:solidFill>
                <a:latin typeface="Segoe UI Emoji"/>
              </a:rPr>
              <a:t>🧩
</a:t>
            </a:r>
          </a:p>
        </p:txBody>
      </p:sp>
      <p:sp>
        <p:nvSpPr>
          <p:cNvPr id="6" name="Rounded Rectangle 5"/>
          <p:cNvSpPr/>
          <p:nvPr/>
        </p:nvSpPr>
        <p:spPr>
          <a:xfrm>
            <a:off x="3200400" y="2743200"/>
            <a:ext cx="2743200" cy="1828800"/>
          </a:xfrm>
          <a:prstGeom prst="roundRect">
            <a:avLst/>
          </a:prstGeom>
          <a:solidFill>
            <a:srgbClr val="DAEBF7"/>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pPr>
            <a:r>
              <a:rPr sz="1300" b="1">
                <a:solidFill>
                  <a:srgbClr val="000000"/>
                </a:solidFill>
              </a:rPr>
              <a:t>MCP 協議創新
</a:t>
            </a:r>
            <a:r>
              <a:rPr sz="1000">
                <a:solidFill>
                  <a:srgbClr val="000000"/>
                </a:solidFill>
              </a:rPr>
              <a:t>將本地腳本轉型為標準化 AI Agent 工具</a:t>
            </a:r>
          </a:p>
        </p:txBody>
      </p:sp>
      <p:sp>
        <p:nvSpPr>
          <p:cNvPr id="7" name="Rounded Rectangle 6"/>
          <p:cNvSpPr/>
          <p:nvPr/>
        </p:nvSpPr>
        <p:spPr>
          <a:xfrm>
            <a:off x="6126480" y="1828800"/>
            <a:ext cx="2743200" cy="914400"/>
          </a:xfrm>
          <a:prstGeom prst="round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a:solidFill>
                  <a:srgbClr val="0066CC"/>
                </a:solidFill>
                <a:latin typeface="Segoe UI Emoji"/>
              </a:rPr>
              <a:t>📊
</a:t>
            </a:r>
          </a:p>
        </p:txBody>
      </p:sp>
      <p:sp>
        <p:nvSpPr>
          <p:cNvPr id="8" name="Rounded Rectangle 7"/>
          <p:cNvSpPr/>
          <p:nvPr/>
        </p:nvSpPr>
        <p:spPr>
          <a:xfrm>
            <a:off x="6126480" y="2743200"/>
            <a:ext cx="2743200" cy="1828800"/>
          </a:xfrm>
          <a:prstGeom prst="roundRect">
            <a:avLst/>
          </a:prstGeom>
          <a:solidFill>
            <a:srgbClr val="DAEBF7"/>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pPr>
            <a:r>
              <a:rPr sz="1300" b="1">
                <a:solidFill>
                  <a:srgbClr val="000000"/>
                </a:solidFill>
              </a:rPr>
              <a:t>技術整合
</a:t>
            </a:r>
            <a:r>
              <a:rPr sz="1000">
                <a:solidFill>
                  <a:srgbClr val="000000"/>
                </a:solidFill>
              </a:rPr>
              <a:t>實現工作流自動化、雲端存儲與資料分析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循環圖</a:t>
            </a:r>
          </a:p>
        </p:txBody>
      </p:sp>
      <p:sp>
        <p:nvSpPr>
          <p:cNvPr id="3" name="Oval 2"/>
          <p:cNvSpPr/>
          <p:nvPr/>
        </p:nvSpPr>
        <p:spPr>
          <a:xfrm>
            <a:off x="3657600" y="1417320"/>
            <a:ext cx="1828800" cy="1645920"/>
          </a:xfrm>
          <a:prstGeom prst="ellipse">
            <a:avLst/>
          </a:prstGeom>
          <a:solidFill>
            <a:srgbClr val="DDEBF7"/>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a:solidFill>
                  <a:srgbClr val="0066CC"/>
                </a:solidFill>
                <a:latin typeface="Segoe UI Emoji"/>
              </a:rPr>
              <a:t>🔍
</a:t>
            </a:r>
            <a:r>
              <a:rPr sz="1300" b="1">
                <a:solidFill>
                  <a:srgbClr val="000000"/>
                </a:solidFill>
              </a:rPr>
              <a:t>AI Agent 引入
</a:t>
            </a:r>
          </a:p>
        </p:txBody>
      </p:sp>
      <p:sp>
        <p:nvSpPr>
          <p:cNvPr id="4" name="Oval 3"/>
          <p:cNvSpPr/>
          <p:nvPr/>
        </p:nvSpPr>
        <p:spPr>
          <a:xfrm>
            <a:off x="5083008" y="3886200"/>
            <a:ext cx="1828800" cy="1645920"/>
          </a:xfrm>
          <a:prstGeom prst="ellipse">
            <a:avLst/>
          </a:prstGeom>
          <a:solidFill>
            <a:srgbClr val="DDEBF7"/>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a:solidFill>
                  <a:srgbClr val="0066CC"/>
                </a:solidFill>
                <a:latin typeface="Segoe UI Emoji"/>
              </a:rPr>
              <a:t>🧩
</a:t>
            </a:r>
            <a:r>
              <a:rPr sz="1300" b="1">
                <a:solidFill>
                  <a:srgbClr val="000000"/>
                </a:solidFill>
              </a:rPr>
              <a:t>MCP 協議創新
</a:t>
            </a:r>
          </a:p>
        </p:txBody>
      </p:sp>
      <p:sp>
        <p:nvSpPr>
          <p:cNvPr id="5" name="Oval 4"/>
          <p:cNvSpPr/>
          <p:nvPr/>
        </p:nvSpPr>
        <p:spPr>
          <a:xfrm>
            <a:off x="2232191" y="3886200"/>
            <a:ext cx="1828800" cy="1645920"/>
          </a:xfrm>
          <a:prstGeom prst="ellipse">
            <a:avLst/>
          </a:prstGeom>
          <a:solidFill>
            <a:srgbClr val="DDEBF7"/>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a:solidFill>
                  <a:srgbClr val="0066CC"/>
                </a:solidFill>
                <a:latin typeface="Segoe UI Emoji"/>
              </a:rPr>
              <a:t>📊
</a:t>
            </a:r>
            <a:r>
              <a:rPr sz="1300" b="1">
                <a:solidFill>
                  <a:srgbClr val="000000"/>
                </a:solidFill>
              </a:rPr>
              <a:t>技術整合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