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什麼是 Retrieval‑Augmented Generation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RAG 是結合檢索 (Retrieve) 與生成 (Generate) 的技術。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 先從資料庫找出與問題相關的文件段落。</a:t>
            </a:r>
          </a:p>
          <a:p>
            <a:pPr>
              <a:defRPr sz="1600"/>
            </a:pPr>
            <a:r>
              <a:t>2. 再將這些段落作為背景，請語言模型產出答案。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入門者可把 RAG 想像成「先搜尋，再回答」的智能問答流程。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 檔：將整個文件送入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generate_full_files_answer 函式：</a:t>
            </a:r>
          </a:p>
          <a:p>
            <a:pPr>
              <a:defRPr sz="1600"/>
            </a:pPr>
            <a:r>
              <a:t>1. 取得最相關的片段(top_chunks)。</a:t>
            </a:r>
          </a:p>
          <a:p>
            <a:pPr>
              <a:defRPr sz="1600"/>
            </a:pPr>
            <a:r>
              <a:t>2. 找出同一來源的所有文件並按頁碼排序。</a:t>
            </a:r>
          </a:p>
          <a:p>
            <a:pPr>
              <a:defRPr sz="1600"/>
            </a:pPr>
            <a:r>
              <a:t>3. 把整個文件合併成長文本。</a:t>
            </a:r>
          </a:p>
          <a:p>
            <a:pPr>
              <a:defRPr sz="1600"/>
            </a:pPr>
            <a:r>
              <a:t>4. 呼叫 llm_generator 產生答案。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回傳：同來源文件清單 + LLM 回答。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2 檔：建立向量資料庫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RAG_Embedding.py 的流程：</a:t>
            </a:r>
          </a:p>
          <a:p>
            <a:pPr>
              <a:defRPr sz="1600"/>
            </a:pPr>
            <a:r>
              <a:t>1. 上傳文件 → 轉成 Document。</a:t>
            </a:r>
          </a:p>
          <a:p>
            <a:pPr>
              <a:defRPr sz="1600"/>
            </a:pPr>
            <a:r>
              <a:t>2. 用 RecursiveCharacterTextSplitter 分割成 chunk。</a:t>
            </a:r>
          </a:p>
          <a:p>
            <a:pPr>
              <a:defRPr sz="1600"/>
            </a:pPr>
            <a:r>
              <a:t>3. 用 OllamaEmbeddings 產生向量。</a:t>
            </a:r>
          </a:p>
          <a:p>
            <a:pPr>
              <a:defRPr sz="1600"/>
            </a:pPr>
            <a:r>
              <a:t>4. 用 FAISS 建立向量索引。</a:t>
            </a:r>
          </a:p>
          <a:p>
            <a:pPr>
              <a:defRPr sz="1600"/>
            </a:pPr>
            <a:r>
              <a:t>5. 透過 refresh_vectorstore_check 決定是否重新建構索引。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結果：可在 Session 中儲存並重複使用。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3 檔：LLM 產生器與回應解析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RAG_LLM_Generator：</a:t>
            </a:r>
          </a:p>
          <a:p>
            <a:pPr>
              <a:defRPr sz="1600"/>
            </a:pPr>
            <a:r>
              <a:t>- llm_generator：</a:t>
            </a:r>
          </a:p>
          <a:p>
            <a:pPr>
              <a:defRPr sz="1600"/>
            </a:pPr>
            <a:r>
              <a:t>  * 建立 prompt，插入上下文段落、段落編號、來源 URL。</a:t>
            </a:r>
          </a:p>
          <a:p>
            <a:pPr>
              <a:defRPr sz="1600"/>
            </a:pPr>
            <a:r>
              <a:t>  * 以「Traditional Chinese」回答。</a:t>
            </a:r>
          </a:p>
          <a:p>
            <a:pPr>
              <a:defRPr sz="1600"/>
            </a:pPr>
            <a:r>
              <a:t>  * 呼叫 Ollama LLM (預設 deepseek‑r1:8b)。</a:t>
            </a:r>
          </a:p>
          <a:p>
            <a:pPr>
              <a:defRPr sz="1600"/>
            </a:pPr>
            <a:r>
              <a:t>- extract_answer_and_thought：</a:t>
            </a:r>
          </a:p>
          <a:p>
            <a:pPr>
              <a:defRPr sz="1600"/>
            </a:pPr>
            <a:r>
              <a:t>  * 解析 … 區塊，分離思考與答案。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用途：將檢索到的片段送入 LLM，得到可直接呈現的答案。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4 檔：外部重排序 (SiliconFlow)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rerank_with_siliconflow：</a:t>
            </a:r>
          </a:p>
          <a:p>
            <a:pPr>
              <a:defRPr sz="1600"/>
            </a:pPr>
            <a:r>
              <a:t>1. 組成 JSON payload，指定模型 BAAI/bge‑reranker‑v2‑m3。</a:t>
            </a:r>
          </a:p>
          <a:p>
            <a:pPr>
              <a:defRPr sz="1600"/>
            </a:pPr>
            <a:r>
              <a:t>2. POST 至 API，取得每段文字的相關度分數。</a:t>
            </a:r>
          </a:p>
          <a:p>
            <a:pPr>
              <a:defRPr sz="1600"/>
            </a:pPr>
            <a:r>
              <a:t>3. 按分數排序，取前 k 個。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search_top_k：</a:t>
            </a:r>
          </a:p>
          <a:p>
            <a:pPr>
              <a:defRPr sz="1600"/>
            </a:pPr>
            <a:r>
              <a:t>  從 FAISS 取得 top-k 文檔。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rerank_chunks_top_k：</a:t>
            </a:r>
          </a:p>
          <a:p>
            <a:pPr>
              <a:defRPr sz="1600"/>
            </a:pPr>
            <a:r>
              <a:t>  - 先取得候選段落。</a:t>
            </a:r>
          </a:p>
          <a:p>
            <a:pPr>
              <a:defRPr sz="1600"/>
            </a:pPr>
            <a:r>
              <a:t>  - 用 SiliconFlow 重新排序。</a:t>
            </a:r>
          </a:p>
          <a:p>
            <a:pPr>
              <a:defRPr sz="1600"/>
            </a:pPr>
            <a:r>
              <a:t>  - 回傳重新排序後的 (Document, score)。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完整流程總覽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用戶上傳文件 → 建立 Document → 分割 → 嵌入 → FAISS 索引。</a:t>
            </a:r>
          </a:p>
          <a:p>
            <a:pPr>
              <a:defRPr sz="1600"/>
            </a:pPr>
            <a:r>
              <a:t>2. 用戶輸入查詢 → 先在 FAISS 搜尋 top‑k 段落。</a:t>
            </a:r>
          </a:p>
          <a:p>
            <a:pPr>
              <a:defRPr sz="1600"/>
            </a:pPr>
            <a:r>
              <a:t>3. 這些段落送往 SiliconFlow 重新排序。</a:t>
            </a:r>
          </a:p>
          <a:p>
            <a:pPr>
              <a:defRPr sz="1600"/>
            </a:pPr>
            <a:r>
              <a:t>4. 取重排序後的前 k 段落，合併同一來源文件。</a:t>
            </a:r>
          </a:p>
          <a:p>
            <a:pPr>
              <a:defRPr sz="1600"/>
            </a:pPr>
            <a:r>
              <a:t>5. 將合併文本送給 llm_generator 產生答案。</a:t>
            </a:r>
          </a:p>
          <a:p>
            <a:pPr>
              <a:defRPr sz="1600"/>
            </a:pPr>
            <a:r>
              <a:t>6. 解析答案並回傳給用戶。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學習重點與延伸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- RAG 的三個核心：檢索、重排序、生成。</a:t>
            </a:r>
          </a:p>
          <a:p>
            <a:pPr>
              <a:defRPr sz="1600"/>
            </a:pPr>
            <a:r>
              <a:t>- 重要元件：FAISS、OllamaEmbeddings、LLM（Ollama）、SiliconFlow 重排序。</a:t>
            </a:r>
          </a:p>
          <a:p>
            <a:pPr>
              <a:defRPr sz="1600"/>
            </a:pPr>
            <a:r>
              <a:t>- 初學者可以先從「文件上傳 → 向量索引 → 單一檢索 → LLM 回答」開始。</a:t>
            </a:r>
          </a:p>
          <a:p>
            <a:pPr>
              <a:defRPr sz="1600"/>
            </a:pPr>
            <a:r>
              <a:t>- 未來可加入多模型、可視化、結果評估等功能。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📄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文件上傳與向量化
</a:t>
            </a:r>
            <a:r>
              <a:rPr sz="1000">
                <a:solidFill>
                  <a:srgbClr val="000000"/>
                </a:solidFill>
              </a:rPr>
              <a:t>上傳文件 → 分割 → 嵌入 → FAISS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🔎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檢索與重排序
</a:t>
            </a:r>
            <a:r>
              <a:rPr sz="1000">
                <a:solidFill>
                  <a:srgbClr val="000000"/>
                </a:solidFill>
              </a:rPr>
              <a:t>FAISS top-k → SiliconFlow 排序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答案生成 &amp; 回傳
</a:t>
            </a:r>
            <a:r>
              <a:rPr sz="1000">
                <a:solidFill>
                  <a:srgbClr val="000000"/>
                </a:solidFill>
              </a:rPr>
              <a:t>LLM 產生 → 解析答案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📄
</a:t>
            </a:r>
            <a:r>
              <a:rPr sz="1300" b="1">
                <a:solidFill>
                  <a:srgbClr val="000000"/>
                </a:solidFill>
              </a:rPr>
              <a:t>文件上傳與向量化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🔎
</a:t>
            </a:r>
            <a:r>
              <a:rPr sz="1300" b="1">
                <a:solidFill>
                  <a:srgbClr val="000000"/>
                </a:solidFill>
              </a:rPr>
              <a:t>檢索與重排序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  <a:r>
              <a:rPr sz="1300" b="1">
                <a:solidFill>
                  <a:srgbClr val="000000"/>
                </a:solidFill>
              </a:rPr>
              <a:t>答案生成 &amp; 回傳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